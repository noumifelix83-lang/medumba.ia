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0D2010"/>
          </a:solidFill>
          <a:ln w="12700">
            <a:solidFill>
              <a:srgbClr val="0D2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A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Medumba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255264" y="548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.ai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84048" y="1572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BB2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" y="2084832"/>
            <a:ext cx="5029200" cy="0"/>
          </a:xfrm>
          <a:prstGeom prst="line">
            <a:avLst/>
          </a:prstGeom>
          <a:noFill/>
          <a:ln w="12700">
            <a:solidFill>
              <a:srgbClr val="1A7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194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 · Production Hosting · Three Components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Pipeline · THEO Event Bus · Offline-First Mobile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760720" y="566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medumba.ai (Cloudflare DNS)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850392"/>
            <a:ext cx="310896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1338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760720" y="13167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Félix II Njandja Noumi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1600200"/>
            <a:ext cx="310896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8836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LEAD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760720" y="20665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Tangyie Shulem Yaweni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2350008"/>
            <a:ext cx="310896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6334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760720" y="28163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Flutter · Node.js · Python · Supabase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3099816"/>
            <a:ext cx="310896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3832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760720" y="35661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Modal.com · Claude API · FAISS · wav2vec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3849624"/>
            <a:ext cx="310896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41330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760720" y="43159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NKONI Festival · July 25–26,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4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Kaaynos SARL × Nzueke Foundation ·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Seven-Layer 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87552"/>
            <a:ext cx="749808" cy="493776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8755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987552"/>
            <a:ext cx="7909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987552"/>
            <a:ext cx="45720" cy="493776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241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12435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Vercel · Tailwind CSS · i18n (Medumba/French/English)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0" y="10424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554480"/>
            <a:ext cx="749808" cy="4937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554480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1554480"/>
            <a:ext cx="7909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554480"/>
            <a:ext cx="45720" cy="4937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15910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3000" y="18105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3.19+ · Dart · GoRouter · Riverpod · SQLite (sqflite) · Hive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1609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2121408"/>
            <a:ext cx="749808" cy="493776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121408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2121408"/>
            <a:ext cx="7909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2121408"/>
            <a:ext cx="45720" cy="493776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2157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" y="23774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· RESTful API · Supabase JWT · Swagger · emitTheo()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0" y="2176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Aymar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" y="2688336"/>
            <a:ext cx="749808" cy="4937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688336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5840" y="2688336"/>
            <a:ext cx="7909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688336"/>
            <a:ext cx="45720" cy="4937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2724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NLP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3000" y="29443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Modal.com GPU · librosa · wav2vec 2.0 · HuggingFace · FAISS · Jena Fuseki OWL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0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Tangyie / GWU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3255264"/>
            <a:ext cx="749808" cy="493776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255264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05840" y="3255264"/>
            <a:ext cx="7909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3255264"/>
            <a:ext cx="45720" cy="493776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3291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43000" y="35112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· MongoDB Atlas (corpus) · Redis (Upstash) · Cloudflare R2 (audio/video)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772400" y="3310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22192"/>
            <a:ext cx="749808" cy="493776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82219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05840" y="3822192"/>
            <a:ext cx="7909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40" y="3822192"/>
            <a:ext cx="45720" cy="493776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3858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 PIPELINE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43000" y="40782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CEPOM Zones A/B/C/D · Elder consent portal · 14-dim tagging · Whisper · Franklin validation · Word suggestion agentic pipeline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772400" y="3877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4389120"/>
            <a:ext cx="749808" cy="493776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389120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L7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05840" y="4389120"/>
            <a:ext cx="7909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05840" y="4389120"/>
            <a:ext cx="45720" cy="493776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3000" y="44256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4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 / DEVOPS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143000" y="46451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Railway · Modal.com · Cloudflare · GitHub Actions CI/CD · Sentry · NVIDIA Jetson (Phase 2)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772400" y="4443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4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Tangyie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Hosting Stack — medumba.ai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87552"/>
            <a:ext cx="7955280" cy="237744"/>
          </a:xfrm>
          <a:prstGeom prst="rect">
            <a:avLst/>
          </a:prstGeom>
          <a:solidFill>
            <a:srgbClr val="2C3E50"/>
          </a:solidFill>
          <a:ln w="12700">
            <a:solidFill>
              <a:srgbClr val="C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96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08760" y="996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63240" y="9966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&amp; NOTES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269480" y="996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COST/MO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8600" y="1225296"/>
            <a:ext cx="795528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" y="1344168"/>
            <a:ext cx="109728" cy="109728"/>
          </a:xfrm>
          <a:prstGeom prst="ellipse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26187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1261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6324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medumba.ai · auto SSL · git-push deploy ~45s · global CDN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6948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FREE–$20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1595628"/>
            <a:ext cx="7955280" cy="352044"/>
          </a:xfrm>
          <a:prstGeom prst="rect">
            <a:avLst/>
          </a:prstGeom>
          <a:solidFill>
            <a:srgbClr val="F3F8F4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" y="1714500"/>
            <a:ext cx="109728" cy="109728"/>
          </a:xfrm>
          <a:prstGeom prst="ellipse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16322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16322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CDN + R2 Storage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63240" y="16322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 + nlp. subdomains · audio/video R2 (zero egress) · DNS routing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69480" y="16322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FREE–$5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1965960"/>
            <a:ext cx="795528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" y="2084832"/>
            <a:ext cx="109728" cy="1097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00253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Railway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2002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 Backend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63240" y="20025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api.medumba.ai · Docker · persistent process · auto-scale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69480" y="20025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$5–$20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2336292"/>
            <a:ext cx="7955280" cy="352044"/>
          </a:xfrm>
          <a:prstGeom prst="rect">
            <a:avLst/>
          </a:prstGeom>
          <a:solidFill>
            <a:srgbClr val="F3F8F4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" y="2455164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237286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Modal.com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23728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/ NLP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063240" y="23728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on-demand · Whisper · librosa tonal scorer · FR→Medumba LLM · pay-per-second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69480" y="23728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$10–$30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" y="2706624"/>
            <a:ext cx="795528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" y="2825496"/>
            <a:ext cx="109728" cy="10972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274320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08760" y="2743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Realtime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63240" y="2743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 · Supabase Auth (JWT) · RLS policies · Realtime → THEO Event Bus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269480" y="2743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FREE–$25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076956"/>
            <a:ext cx="7955280" cy="352044"/>
          </a:xfrm>
          <a:prstGeom prst="rect">
            <a:avLst/>
          </a:prstGeom>
          <a:solidFill>
            <a:srgbClr val="F3F8F4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3464" y="3195828"/>
            <a:ext cx="109728" cy="109728"/>
          </a:xfrm>
          <a:prstGeom prst="ellipse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311353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 Atlas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508760" y="31135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+ Media Metadata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063240" y="31135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corpus_entries (14-dim) · media_catalog · full-text search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69480" y="31135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FREE–$57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28600" y="3447288"/>
            <a:ext cx="795528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" y="3566160"/>
            <a:ext cx="109728" cy="109728"/>
          </a:xfrm>
          <a:prstGeom prst="ellipse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" y="348386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Upstash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08760" y="3483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063240" y="34838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cache · rate-limit counters · serverless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69480" y="3483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FREE–$10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28600" y="3817620"/>
            <a:ext cx="7955280" cy="352044"/>
          </a:xfrm>
          <a:prstGeom prst="rect">
            <a:avLst/>
          </a:prstGeom>
          <a:solidFill>
            <a:srgbClr val="F3F8F4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3464" y="3936492"/>
            <a:ext cx="109728" cy="109728"/>
          </a:xfrm>
          <a:prstGeom prst="ellipse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" y="385419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 R2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508760" y="38541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063240" y="38541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.mp3/.wav · video .mp4 · zero egress fees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269480" y="38541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~$0.015/GB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28600" y="4187952"/>
            <a:ext cx="795528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3464" y="4306824"/>
            <a:ext cx="109728" cy="109728"/>
          </a:xfrm>
          <a:prstGeom prst="ellipse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9768" y="422452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508760" y="42245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063240" y="4224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deploy-frontend.yml + deploy-api.yml · on push to main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269480" y="4224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28600" y="4558284"/>
            <a:ext cx="7955280" cy="352044"/>
          </a:xfrm>
          <a:prstGeom prst="rect">
            <a:avLst/>
          </a:prstGeom>
          <a:solidFill>
            <a:srgbClr val="F3F8F4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3464" y="4677156"/>
            <a:ext cx="109728" cy="10972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" y="45948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Sentry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508760" y="45948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Monitoring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063240" y="45948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 error tracking · Web Vitals · alerts Felix + Tangyie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269480" y="45948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FREE–$26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28600" y="4956048"/>
            <a:ext cx="7955280" cy="201168"/>
          </a:xfrm>
          <a:prstGeom prst="rect">
            <a:avLst/>
          </a:prstGeom>
          <a:solidFill>
            <a:srgbClr val="E8F5EE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96519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~$40–$160/month full production stack · Scales to AWS/GCP at 50K+ users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ECOSYSTEM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Integrated Components — App · Classes · Books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9264"/>
            <a:ext cx="2834640" cy="40233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69264"/>
            <a:ext cx="2834640" cy="4572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2412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THE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3167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+ iOS + Android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" y="1536192"/>
            <a:ext cx="2596896" cy="0"/>
          </a:xfrm>
          <a:prstGeom prst="line">
            <a:avLst/>
          </a:prstGeom>
          <a:noFill/>
          <a:ln w="6350">
            <a:solidFill>
              <a:srgbClr val="1A7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591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(web) · Flutter 3.19 (iOS + Android)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0896" y="19751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state · sqflite offline DB · GoRouter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" y="235915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JWT auth (NOT Firebase)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" y="27432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TheoEventService + SyncService offline queue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" y="31272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Dictionary: trilingual FR/Medumba/EN · tonal audio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0896" y="351129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(5 types) · XP · streaks · SRS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0896" y="38953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Pronunciation: librosa pitch scoring · Chart.js contour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0896" y="427939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voice query: ASR → FAISS → OWL → response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27248" y="969264"/>
            <a:ext cx="2834640" cy="4023360"/>
          </a:xfrm>
          <a:prstGeom prst="rect">
            <a:avLst/>
          </a:prstGeom>
          <a:solidFill>
            <a:srgbClr val="EBF5FB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27248" y="969264"/>
            <a:ext cx="283464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102412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LIVE CLASSES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36976" y="13167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AI-Matched Tutoring Marketplace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36976" y="1536192"/>
            <a:ext cx="2596896" cy="0"/>
          </a:xfrm>
          <a:prstGeom prst="line">
            <a:avLst/>
          </a:prstGeom>
          <a:noFill/>
          <a:ln w="635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1591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Daily.co embedded SDK — no Zoom app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36976" y="19751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 agent (Claude API)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36976" y="235915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TutorMatchingService — 6-factor weighted score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36976" y="27432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(USD charges) + Stripe Connect (US tutors)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36976" y="31272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 API — Cameroon tutor payouts (MTN Mobile Money)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36976" y="351129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post-class processing: transcript → summary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36976" y="38953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notifications · FCM push · AI rebooking nudge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36976" y="427939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service chatbot (95%+ queries) · escalation_queue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53328" y="969264"/>
            <a:ext cx="2834640" cy="4023360"/>
          </a:xfrm>
          <a:prstGeom prst="rect">
            <a:avLst/>
          </a:prstGeom>
          <a:solidFill>
            <a:srgbClr val="F4ECF7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3328" y="969264"/>
            <a:ext cx="2834640" cy="457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102412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THE BOOKS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63056" y="13167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NCOBNKUN Publications · Amazon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1536192"/>
            <a:ext cx="2596896" cy="0"/>
          </a:xfrm>
          <a:prstGeom prst="line">
            <a:avLst/>
          </a:prstGeom>
          <a:noFill/>
          <a:ln w="6350">
            <a:solidFill>
              <a:srgbClr val="6C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1591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CMS — /books page, Franklin manages entries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63056" y="19751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/books/buy/:asin → Amazon affiliate redirect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63056" y="235915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activation endpoint: order confirmation → Stripe coupon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63056" y="27432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event: bundle_activated → high-commitment flag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63056" y="31272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Associates account: NCOBNKUN direct revenue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63056" y="351129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takes no cut on book sales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 MODULE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Dictionary + New Word Creation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87552"/>
            <a:ext cx="41148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87552"/>
            <a:ext cx="4114800" cy="36576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42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389888"/>
            <a:ext cx="73152" cy="731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371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· Medumba · EN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0624" y="157276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search — enter any language, return all three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" y="1828800"/>
            <a:ext cx="73152" cy="731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810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Tonal audio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01168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playback · elder recordings · Cloudflare R2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2608" y="2267712"/>
            <a:ext cx="73152" cy="731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249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 marks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0624" y="245059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diacritics · custom font renderer across all platforms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2608" y="2706624"/>
            <a:ext cx="73152" cy="731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STEM domain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0624" y="288950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· CS · Biology · Physics · Engineering · Medicine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608" y="3145536"/>
            <a:ext cx="73152" cy="731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127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 life domain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0624" y="332841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daily life · Technology · Diaspora school vocabulary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2608" y="3584448"/>
            <a:ext cx="73152" cy="731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of the Day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0624" y="376732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featured word — STEM + cultural rotation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2608" y="4023360"/>
            <a:ext cx="73152" cy="731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0624" y="420624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SQLite cache · 500 most common word audio pre-cached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2608" y="4462272"/>
            <a:ext cx="73152" cy="7315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443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4,257+ entries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0624" y="464515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Franklin/NCOBNKUN validated · growing via pipeline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987552"/>
            <a:ext cx="4343400" cy="4041648"/>
          </a:xfrm>
          <a:prstGeom prst="rect">
            <a:avLst/>
          </a:prstGeom>
          <a:solidFill>
            <a:srgbClr val="EDE7F6"/>
          </a:solidFill>
          <a:ln w="10160">
            <a:solidFill>
              <a:srgbClr val="4A14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987552"/>
            <a:ext cx="4343400" cy="3657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1042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 Creation Pipeline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81728" y="1335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suggests → AI drafts → NCOBNKUN validates → CEPOM approves → Archive + THEO updated → User rewarded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92624" y="1691640"/>
            <a:ext cx="0" cy="3200400"/>
          </a:xfrm>
          <a:prstGeom prst="line">
            <a:avLst/>
          </a:prstGeom>
          <a:noFill/>
          <a:ln w="12700">
            <a:solidFill>
              <a:srgbClr val="4A148C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773168" y="17007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7A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66944" y="1700784"/>
            <a:ext cx="3520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1A7A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58384" y="17099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fails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58384" y="18836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word_not_found event · 'Suggest this word' prompt · earn 50 credits if approved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73168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266944" y="2176272"/>
            <a:ext cx="3520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58384" y="21854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58384" y="23591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form · definition · domain (STEM/tech/daily life/culture) · example sentence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73168" y="265176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348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66944" y="2651760"/>
            <a:ext cx="3520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58384" y="26609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Claude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58384" y="28346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 (FAISS) · concept research (RAG) · drafts Medumba word + tone marks · trilingual entry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73168" y="31272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66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266944" y="3127248"/>
            <a:ext cx="3520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58384" y="31363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NCOBNKUN review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58384" y="33101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Franklin's dashboard · approve / modify / reject / escalate to CEPOM · linguistic authority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73168" y="360273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421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7316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4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266944" y="3602736"/>
            <a:ext cx="3520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78421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58384" y="36118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CEPOM approval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58384" y="37856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sign-off for STEM terms + neologisms · standards review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773168" y="407822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22B2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7316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66944" y="4078224"/>
            <a:ext cx="3520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2B2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58384" y="40873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+ archived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58384" y="4261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table INSERT · IP Provenance Ledger (immutable) · THEO D5 event emitted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73168" y="455371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148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73168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266944" y="4553712"/>
            <a:ext cx="3520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58384" y="45628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notified + credited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358384" y="47365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credits for CEPOM-approved word · badge · 'Suggested by [you]' on entry forever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 EVENT BUS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Interaction Feeds THEO — AI Records Everything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87552"/>
            <a:ext cx="4160520" cy="2414016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87552"/>
            <a:ext cx="4160520" cy="256032"/>
          </a:xfrm>
          <a:prstGeom prst="rect">
            <a:avLst/>
          </a:prstGeom>
          <a:solidFill>
            <a:srgbClr val="E0F0E8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05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theo_events — Supabase Table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1316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45920" y="13167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9184" y="15224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45920" y="152247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FK → users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9184" y="17282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persona_role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45920" y="17282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child|parent|teacher|content_owner|admin|bizmgr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9184" y="19339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45920" y="19339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lesson_completed · word_approved_and_added · class_completed…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" y="21396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45920" y="21396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— all signal fields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9184" y="23454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theo_dimension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645920" y="23454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D1|D2|D3|D4|D5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9184" y="2551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location_type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645920" y="255117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cameroon|diaspora_us|diaspora_fr|other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9184" y="27569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twin_state_before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45920" y="27569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s_t snapshot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9184" y="29626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twin_state_after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645920" y="29626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— written by THEO engine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9184" y="31683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45920" y="31683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 DEFAULT now()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0" y="987552"/>
            <a:ext cx="434340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987552"/>
            <a:ext cx="4343400" cy="36576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0424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Events by Product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26864" y="1389888"/>
            <a:ext cx="91440" cy="91440"/>
          </a:xfrm>
          <a:prstGeom prst="ellipse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3350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15179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word_looked_up · lesson_completed · pronunciation_scored · word_not_found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26864" y="1705356"/>
            <a:ext cx="91440" cy="91440"/>
          </a:xfrm>
          <a:prstGeom prst="ellipse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6504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18333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word_suggestion_submitted · word_approved_and_added · cepom_approval_granted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26864" y="2020824"/>
            <a:ext cx="91440" cy="914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965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21488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assessment_completed · tutor_matched · class_completed · class_abandoned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26864" y="2336292"/>
            <a:ext cx="91440" cy="91440"/>
          </a:xfrm>
          <a:prstGeom prst="ellipse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2814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4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eMuseum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24643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artifact_viewed · dimension_browsed · qr_scan_intake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26864" y="2651760"/>
            <a:ext cx="91440" cy="91440"/>
          </a:xfrm>
          <a:prstGeom prst="ellipse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5968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4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Homepage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277977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page_view · cta_clicked · bundle_activated · book_link_clicked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26864" y="2967228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9123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0" y="30952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voice_query · rag_retrieval_completed · chatbot_session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26864" y="3282696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2278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54880" y="341071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book_link_clicked · bundle_activated → high-commitment twin flag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511296"/>
            <a:ext cx="8686800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28600" y="3511296"/>
            <a:ext cx="8686800" cy="36576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5661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Flow: Felix's emitTheo() → Supabase Realtime → THEO PPO Engine (~100ms) → Twin Update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9184" y="3822192"/>
            <a:ext cx="1591056" cy="1133856"/>
          </a:xfrm>
          <a:prstGeom prst="rect">
            <a:avLst/>
          </a:prstGeom>
          <a:solidFill>
            <a:srgbClr val="F3F8F4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3858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Felix's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84048" y="407822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emitTheo(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userId, role,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eventType,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payload, dim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84048" y="46085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947672" y="4389120"/>
            <a:ext cx="27432" cy="0"/>
          </a:xfrm>
          <a:prstGeom prst="line">
            <a:avLst/>
          </a:prstGeom>
          <a:noFill/>
          <a:ln w="10160">
            <a:solidFill>
              <a:srgbClr val="C8DD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75104" y="3822192"/>
            <a:ext cx="1591056" cy="1133856"/>
          </a:xfrm>
          <a:prstGeom prst="rect">
            <a:avLst/>
          </a:prstGeom>
          <a:solidFill>
            <a:srgbClr val="F3F8F4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29968" y="3858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Realtime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029968" y="407822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→ fires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 stream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~100ms latency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029968" y="46085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personas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593592" y="4389120"/>
            <a:ext cx="27432" cy="0"/>
          </a:xfrm>
          <a:prstGeom prst="line">
            <a:avLst/>
          </a:prstGeom>
          <a:noFill/>
          <a:ln w="10160">
            <a:solidFill>
              <a:srgbClr val="C8DD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21024" y="3822192"/>
            <a:ext cx="1591056" cy="1133856"/>
          </a:xfrm>
          <a:prstGeom prst="rect">
            <a:avLst/>
          </a:prstGeom>
          <a:solidFill>
            <a:srgbClr val="F3F8F4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75888" y="3858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Engine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675888" y="407822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 s_t=[L,H,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A,E,C,X]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Bayesian update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PPO policy step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675888" y="46085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Modal.com GPU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239512" y="4389120"/>
            <a:ext cx="27432" cy="0"/>
          </a:xfrm>
          <a:prstGeom prst="line">
            <a:avLst/>
          </a:prstGeom>
          <a:noFill/>
          <a:ln w="10160">
            <a:solidFill>
              <a:srgbClr val="C8DDD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66944" y="3822192"/>
            <a:ext cx="1591056" cy="1133856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3858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321808" y="407822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twin_state_after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written to event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row. Next action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selected.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321808" y="46085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885432" y="4389120"/>
            <a:ext cx="27432" cy="0"/>
          </a:xfrm>
          <a:prstGeom prst="line">
            <a:avLst/>
          </a:prstGeom>
          <a:noFill/>
          <a:ln w="10160">
            <a:solidFill>
              <a:srgbClr val="C8DD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12864" y="3822192"/>
            <a:ext cx="1591056" cy="1133856"/>
          </a:xfrm>
          <a:prstGeom prst="rect">
            <a:avLst/>
          </a:prstGeom>
          <a:solidFill>
            <a:srgbClr val="F3F8F4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67728" y="3858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967728" y="407822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event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doctoral data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point. P1–P4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 from here.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967728" y="46085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GWU SEAS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App — Clean Architecture (Approved + Required Additions)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640080" cy="59436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005840"/>
            <a:ext cx="5257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005840"/>
            <a:ext cx="36576" cy="59436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0515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" y="12435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· Widgets · GoRouter navigation · Material 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72784" y="10607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Amira-first UX: icon+text on all elements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" y="1673352"/>
            <a:ext cx="64008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1673352"/>
            <a:ext cx="5257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1673352"/>
            <a:ext cx="36576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17190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MANAGEMENT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9264" y="19110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2.4+ · AuthProvider · UserProvider · LessonProvider · ProgressProvider · TheoEventProvider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72784" y="17282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Riverpod over BLoC — correct choice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" y="2340864"/>
            <a:ext cx="640080" cy="594360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" y="2340864"/>
            <a:ext cx="5257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" y="2340864"/>
            <a:ext cx="36576" cy="594360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238658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9264" y="25786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LessonService · AudioService · GameService · TheoEventService · PronunciationService · SyncService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72784" y="23957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TheoEventService + PronunciationService + SyncService: MUST ADD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3008376"/>
            <a:ext cx="640080" cy="594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" y="3008376"/>
            <a:ext cx="5257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3008376"/>
            <a:ext cx="36576" cy="594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30540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9264" y="32461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AuthRepository · UserDataRepository · LessonRepository · TheoRepository (add)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72784" y="30632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interfaces — easy mock testing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3675888"/>
            <a:ext cx="64008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" y="3675888"/>
            <a:ext cx="5257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" y="3675888"/>
            <a:ext cx="36576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372160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STORAGE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69264" y="39136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 (JWT, 30-day session) · sqflite (progress, sync_queue) · File cache (audio)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37307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sqflite over Hive — upgrade for relational queries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4343400"/>
            <a:ext cx="640080" cy="5943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" y="4343400"/>
            <a:ext cx="5257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" y="4343400"/>
            <a:ext cx="36576" cy="5943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" y="43891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SERVICES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9264" y="45811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+ interceptors + retry · Supabase Auth + Realtime · api.medumba.ai · Modal.com NLP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72784" y="43982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Replace Firebase Auth with Supabase Auth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4992624"/>
            <a:ext cx="8686800" cy="201168"/>
          </a:xfrm>
          <a:prstGeom prst="rect">
            <a:avLst/>
          </a:prstGeom>
          <a:solidFill>
            <a:srgbClr val="EBF5FB"/>
          </a:solidFill>
          <a:ln w="8890">
            <a:solidFill>
              <a:srgbClr val="1A52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50017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app launched offline → SQLite serves all content → events queued in sync_queue → SyncService batch-pushes on reconnect → conflict: server wins content, client wins progress logs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Database Schema — PostgreSQL + MongoDB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87552"/>
            <a:ext cx="8741664" cy="237744"/>
          </a:xfrm>
          <a:prstGeom prst="rect">
            <a:avLst/>
          </a:prstGeom>
          <a:solidFill>
            <a:srgbClr val="2C3E50"/>
          </a:solidFill>
          <a:ln w="12700">
            <a:solidFill>
              <a:srgbClr val="C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07008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08760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FIELDS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0" y="1005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1168" y="1225296"/>
            <a:ext cx="8741664" cy="297180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" y="1325880"/>
            <a:ext cx="91440" cy="91440"/>
          </a:xfrm>
          <a:prstGeom prst="ellipse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243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225296" y="1280160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12801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536192" y="12435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email · role · learner_type · created_at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41264" y="12435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 — 6 roles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1168" y="1531620"/>
            <a:ext cx="8741664" cy="297180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" y="1632204"/>
            <a:ext cx="91440" cy="914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15499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225296" y="1586484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158648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36192" y="154990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medumba_text · french_text · english_text · tone_marks · audio_r2_url · validated_by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541264" y="15499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Dictionary. No publish without linguistic_authority sign-off.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1168" y="1837944"/>
            <a:ext cx="8741664" cy="297180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" y="1938528"/>
            <a:ext cx="91440" cy="91440"/>
          </a:xfrm>
          <a:prstGeom prst="ellipse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18562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word_suggestions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225296" y="1892808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25296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536192" y="185623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submitted_by · query_text · domain · ai_draft_medumba · ai_draft_french · ai_draft_english · status · ncobnkun_reviewer_id · cepom_approver_id · credits_issued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41264" y="18562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 PIPELINE — full suggestion-to-approval lifecycle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" y="2144268"/>
            <a:ext cx="8741664" cy="297180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" y="2244852"/>
            <a:ext cx="91440" cy="91440"/>
          </a:xfrm>
          <a:prstGeom prst="ellipse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21625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225296" y="2199132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25296" y="21991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536192" y="216255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title · track · difficulty · content_json · created_by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541264" y="21625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content. JSON-structured exercises.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" y="2450592"/>
            <a:ext cx="8741664" cy="297180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9456" y="2551176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" y="2468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progress_logs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225296" y="2505456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25296" y="25054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536192" y="24688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user_id · lesson_id · word_id · score · xp · completed_at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41264" y="2468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data → THEO twin L-dimension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01168" y="2756916"/>
            <a:ext cx="8741664" cy="297180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9456" y="2857500"/>
            <a:ext cx="91440" cy="91440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27752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pronunciation_logs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225296" y="2811780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25296" y="281178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536192" y="27752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user_id · word_id · audio_r2_key · ai_tone_score · teacher_override_score · tone_errors[]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41264" y="27752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records + teacher ground truth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01168" y="3063240"/>
            <a:ext cx="8741664" cy="297180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456" y="3163824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3081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family_links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225296" y="3118104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25296" y="31181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536192" y="308152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parent_user_id · child_user_id · goal_weights{} · notification_prefs{}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541264" y="30815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Parent→child. goal_weights wires PPO reward function.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01168" y="3369564"/>
            <a:ext cx="8741664" cy="297180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9456" y="3470148"/>
            <a:ext cx="91440" cy="91440"/>
          </a:xfrm>
          <a:prstGeom prst="ellipse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" y="33878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theo_events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225296" y="3424428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25296" y="34244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536192" y="33878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user_id · persona_role · event_type · payload · theo_dimension · twin_state_before · twin_state_after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541264" y="33878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table. ALL personas write here.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01168" y="3675888"/>
            <a:ext cx="8741664" cy="297180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6" y="3776472"/>
            <a:ext cx="91440" cy="914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" y="36941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class_bookings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225296" y="3730752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25296" y="37307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536192" y="36941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student_user_id · tutor_id · scheduled_at · daily_room_url · recording_url · session_summary · stripe_payment_intent_id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541264" y="3694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— central booking record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01168" y="3982212"/>
            <a:ext cx="8741664" cy="297180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9456" y="4082796"/>
            <a:ext cx="91440" cy="91440"/>
          </a:xfrm>
          <a:prstGeom prst="ellipse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9184" y="40005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84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payouts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225296" y="4037076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25296" y="40370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1536192" y="40005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class_booking_id · partner_allocations{} · payout_status · processed_at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541264" y="40005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payout record per class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01168" y="4288536"/>
            <a:ext cx="8741664" cy="297180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19456" y="4389120"/>
            <a:ext cx="91440" cy="91440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9184" y="43068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ip_provenance_ledger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225296" y="4343400"/>
            <a:ext cx="256032" cy="164592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225296" y="43434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1536192" y="4306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content_id · contributor_name · contribution_date · dimension · compensation_status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5541264" y="43068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NO DELETE/UPDATE. Permanent attribution.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01168" y="4594860"/>
            <a:ext cx="8741664" cy="297180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9456" y="4695444"/>
            <a:ext cx="91440" cy="91440"/>
          </a:xfrm>
          <a:prstGeom prst="ellipse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9184" y="46131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corpus_entries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225296" y="4649724"/>
            <a:ext cx="256032" cy="164592"/>
          </a:xfrm>
          <a:prstGeom prst="rect">
            <a:avLst/>
          </a:prstGeom>
          <a:solidFill>
            <a:srgbClr val="D0F0EA"/>
          </a:solidFill>
          <a:ln w="6350">
            <a:solidFill>
              <a:srgbClr val="0E665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25296" y="46497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1536192" y="461314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· speaker_id · dimension_tags[14] · audio_r2_key · whisper_transcript · validated_transcript · tone_annotation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5541264" y="46131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recordings corpus → LLM training pipeline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REFERENCE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 API Endpoints — Base: api.medumba.ai/api/v1/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· Supabase JWT · emitTheo() in every route handler · All routes call emitTheo() after core logic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1170432"/>
            <a:ext cx="8741664" cy="219456"/>
          </a:xfrm>
          <a:prstGeom prst="rect">
            <a:avLst/>
          </a:prstGeom>
          <a:solidFill>
            <a:srgbClr val="2C3E50"/>
          </a:solidFill>
          <a:ln w="12700">
            <a:solidFill>
              <a:srgbClr val="C8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9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61488" y="11795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950208" y="11795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242048" y="11795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796528" y="11795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01168" y="1389888"/>
            <a:ext cx="8741664" cy="221285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" y="140817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/words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61488" y="14081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950208" y="14081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?q=, ?lang=, ?category=, ?domain=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242048" y="14081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1168" y="1620317"/>
            <a:ext cx="8741664" cy="221285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1638605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/words/suggest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61488" y="1638605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50208" y="1638605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new word suggestion → agentic intake pipeline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242048" y="1638605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01168" y="1850746"/>
            <a:ext cx="8741664" cy="221285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" y="1869034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/corpus/validate-queue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61488" y="186903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50208" y="186903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Franklin's NCOBNKUN review queue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242048" y="186903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Owner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01168" y="2081174"/>
            <a:ext cx="8741664" cy="221285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" y="209946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/words/:id/approve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61488" y="209946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50208" y="209946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NCOBNKUN approves + publishes word entry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242048" y="209946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linguistic_authority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01168" y="2311603"/>
            <a:ext cx="8741664" cy="221285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" y="2329891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/translate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61488" y="2329891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950208" y="2329891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→ Medumba via fine-tuned LLM · rate-limited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242048" y="2329891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01168" y="2542032"/>
            <a:ext cx="8741664" cy="221285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" y="256032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/lessons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761488" y="25603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950208" y="2560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lessons: ?track=, ?difficulty=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242048" y="2560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01168" y="2772461"/>
            <a:ext cx="8741664" cy="221285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" y="2790749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/progress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61488" y="2790749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950208" y="2790749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completion, XP, score. Emits lesson_completed.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242048" y="2790749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01168" y="3002890"/>
            <a:ext cx="8741664" cy="221285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" y="302117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/assess-pronunciation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761488" y="302117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950208" y="302117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.wav → tonal score (0–100)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242048" y="302117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01168" y="3233318"/>
            <a:ext cx="8741664" cy="221285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6888" y="325160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/assess-pronunciation/:id/review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761488" y="325160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950208" y="325160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validates / overrides AI score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242048" y="325160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01168" y="3463747"/>
            <a:ext cx="8741664" cy="221285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6888" y="3482035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/media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761488" y="3482035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950208" y="3482035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audio/video: ?type=, ?category=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242048" y="3482035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01168" y="3694176"/>
            <a:ext cx="8741664" cy="221285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6888" y="3712464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/tutoring/assessment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761488" y="3712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950208" y="37124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free 15-min assessment · AI scheduler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242048" y="37124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01168" y="3924605"/>
            <a:ext cx="8741664" cy="221285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6888" y="3942893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/tutoring/book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761488" y="3942893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950208" y="3942893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+ Stripe PaymentIntent · Daily.co room created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242048" y="394289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01168" y="4155034"/>
            <a:ext cx="8741664" cy="221285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6888" y="417332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/tutoring/class/:id/complete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761488" y="417332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950208" y="417332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processes session → summary + THEO event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242048" y="417332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01168" y="4385462"/>
            <a:ext cx="8741664" cy="221285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6888" y="440375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/bundle/activate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761488" y="440375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950208" y="440375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Amazon order → apply Stripe coupon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242048" y="440375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201168" y="4615891"/>
            <a:ext cx="8741664" cy="221285"/>
          </a:xfrm>
          <a:prstGeom prst="rect">
            <a:avLst/>
          </a:prstGeom>
          <a:solidFill>
            <a:srgbClr val="FFFFFF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46888" y="4634179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/theo/event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761488" y="4634179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950208" y="4634179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emitTheo() — inserts to theo_events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242048" y="4634179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201168" y="4846320"/>
            <a:ext cx="8741664" cy="221285"/>
          </a:xfrm>
          <a:prstGeom prst="rect">
            <a:avLst/>
          </a:prstGeom>
          <a:solidFill>
            <a:srgbClr val="F3F8F4"/>
          </a:solidFill>
          <a:ln w="2540">
            <a:solidFill>
              <a:srgbClr val="C8DDD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6888" y="486460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4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/analytics/afcp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761488" y="48646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3950208" y="48646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AFCP compliance metrics for Embassy reporting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242048" y="48646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Admin/BizMgr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291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62179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Felix Builds.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Tangyie Leads.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 Records.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84048" y="2194560"/>
            <a:ext cx="5029200" cy="0"/>
          </a:xfrm>
          <a:prstGeom prst="line">
            <a:avLst/>
          </a:prstGeom>
          <a:noFill/>
          <a:ln w="12700">
            <a:solidFill>
              <a:srgbClr val="1A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26464" y="2286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Vercel + Tailwind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2578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26464" y="25786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3.19 + Riverpod + sqflite + Supabase Auth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+ Railway + Supabase JWT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163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AI/NLP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26464" y="3163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Modal.com + librosa + wav2vec + FAISS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456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26464" y="3456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+ MongoDB Atlas + Upstash Redis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26464" y="3749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Daily.co embedded SDK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26464" y="4041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Stripe Connect + Wise (Cameroon)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4334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Ops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26464" y="4334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agentic pipelines · customer 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4626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 Bus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26464" y="46268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→ THEO PPO engine · 100ms latency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438912"/>
            <a:ext cx="3273552" cy="786384"/>
          </a:xfrm>
          <a:prstGeom prst="rect">
            <a:avLst/>
          </a:prstGeom>
          <a:solidFill>
            <a:srgbClr val="0D2010"/>
          </a:solidFill>
          <a:ln w="10160">
            <a:solidFill>
              <a:srgbClr val="1A7A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438912"/>
            <a:ext cx="54864" cy="786384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97296" y="4937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97296" y="6766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Félix II Njandja Noumi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97296" y="9509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Kaaynos SARL · Bangangté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0" y="1344168"/>
            <a:ext cx="3273552" cy="786384"/>
          </a:xfrm>
          <a:prstGeom prst="rect">
            <a:avLst/>
          </a:prstGeom>
          <a:solidFill>
            <a:srgbClr val="0D2010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1344168"/>
            <a:ext cx="54864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1399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LEAD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97296" y="15819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Tangyie Shulem Yaweni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97296" y="1856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Kaaynos SARL · Dschang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69280" y="2249424"/>
            <a:ext cx="3273552" cy="786384"/>
          </a:xfrm>
          <a:prstGeom prst="rect">
            <a:avLst/>
          </a:prstGeom>
          <a:solidFill>
            <a:srgbClr val="0D2010"/>
          </a:solidFill>
          <a:ln w="10160">
            <a:solidFill>
              <a:srgbClr val="6C34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2249424"/>
            <a:ext cx="54864" cy="78638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97296" y="23042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NLP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97296" y="2487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GWU CS Graduate Dev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97296" y="27614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Prof. Joubin · Washington D.C.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9280" y="3154680"/>
            <a:ext cx="3273552" cy="786384"/>
          </a:xfrm>
          <a:prstGeom prst="rect">
            <a:avLst/>
          </a:prstGeom>
          <a:solidFill>
            <a:srgbClr val="0D2010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3154680"/>
            <a:ext cx="54864" cy="786384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97296" y="32095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97296" y="33924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Franklin Metchezin (Zenu)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97296" y="36667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NCOBNKUN · Bangangté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0" y="4059936"/>
            <a:ext cx="3273552" cy="786384"/>
          </a:xfrm>
          <a:prstGeom prst="rect">
            <a:avLst/>
          </a:prstGeom>
          <a:solidFill>
            <a:srgbClr val="0D2010"/>
          </a:solidFill>
          <a:ln w="10160">
            <a:solidFill>
              <a:srgbClr val="7D5A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0" y="4059936"/>
            <a:ext cx="54864" cy="786384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97296" y="41148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797296" y="4297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Aristide Toundzi Dzouankeu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97296" y="4572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Nzueke Foundation / GWU SEAS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69280" y="4846320"/>
            <a:ext cx="3273552" cy="256032"/>
          </a:xfrm>
          <a:prstGeom prst="rect">
            <a:avLst/>
          </a:prstGeom>
          <a:solidFill>
            <a:srgbClr val="0F5730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48463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medumba.ai · kaaynos.com · nzueke.org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Medumba.ai — Technical Stack</dc:title>
  <dc:subject>PptxGenJS Presentation</dc:subject>
  <dc:creator>Nzueke Foundation / Kaaynos SARL</dc:creator>
  <cp:lastModifiedBy>Nzueke Foundation / Kaaynos SARL</cp:lastModifiedBy>
  <cp:revision>1</cp:revision>
  <dcterms:created xsi:type="dcterms:W3CDTF">2026-03-25T18:53:06Z</dcterms:created>
  <dcterms:modified xsi:type="dcterms:W3CDTF">2026-03-25T18:53:06Z</dcterms:modified>
</cp:coreProperties>
</file>