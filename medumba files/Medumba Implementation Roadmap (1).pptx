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D2010"/>
          </a:solidFill>
          <a:ln w="12700">
            <a:solidFill>
              <a:srgbClr val="0D2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51206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7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Medumba.ai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84048" y="12801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Roadmap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84048" y="17190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BB2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NKONI Festival, Bronx NY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" y="2084832"/>
            <a:ext cx="1554480" cy="31089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20848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25–26,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2523744"/>
            <a:ext cx="914400" cy="475488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52374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(Week 2–5)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98448" y="2761488"/>
            <a:ext cx="109728" cy="0"/>
          </a:xfrm>
          <a:prstGeom prst="line">
            <a:avLst/>
          </a:prstGeom>
          <a:noFill/>
          <a:ln w="12700">
            <a:solidFill>
              <a:srgbClr val="ABB2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08176" y="2523744"/>
            <a:ext cx="914400" cy="4754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08176" y="252374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(Mo. 2)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22576" y="2761488"/>
            <a:ext cx="109728" cy="0"/>
          </a:xfrm>
          <a:prstGeom prst="line">
            <a:avLst/>
          </a:prstGeom>
          <a:noFill/>
          <a:ln w="12700">
            <a:solidFill>
              <a:srgbClr val="ABB2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32304" y="2523744"/>
            <a:ext cx="914400" cy="475488"/>
          </a:xfrm>
          <a:prstGeom prst="rect">
            <a:avLst/>
          </a:prstGeom>
          <a:solidFill>
            <a:srgbClr val="7D5A00"/>
          </a:solidFill>
          <a:ln w="12700">
            <a:solidFill>
              <a:srgbClr val="7D5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32304" y="252374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(Mo. 3)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46704" y="2761488"/>
            <a:ext cx="109728" cy="0"/>
          </a:xfrm>
          <a:prstGeom prst="line">
            <a:avLst/>
          </a:prstGeom>
          <a:noFill/>
          <a:ln w="12700">
            <a:solidFill>
              <a:srgbClr val="ABB2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56432" y="2523744"/>
            <a:ext cx="914400" cy="47548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252374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(Mo. 4)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70832" y="2761488"/>
            <a:ext cx="109728" cy="0"/>
          </a:xfrm>
          <a:prstGeom prst="line">
            <a:avLst/>
          </a:prstGeom>
          <a:noFill/>
          <a:ln w="12700">
            <a:solidFill>
              <a:srgbClr val="ABB2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0" y="2523744"/>
            <a:ext cx="914400" cy="47548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252374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NKONI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52160" y="3840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852160" y="5669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Products · Homepage · Living Dictionary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52160" y="859536"/>
            <a:ext cx="3017520" cy="0"/>
          </a:xfrm>
          <a:prstGeom prst="line">
            <a:avLst/>
          </a:prstGeom>
          <a:noFill/>
          <a:ln w="5080">
            <a:solidFill>
              <a:srgbClr val="1A3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113385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852160" y="131673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Félix II Njandja Noumi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52160" y="1609344"/>
            <a:ext cx="3017520" cy="0"/>
          </a:xfrm>
          <a:prstGeom prst="line">
            <a:avLst/>
          </a:prstGeom>
          <a:noFill/>
          <a:ln w="5080">
            <a:solidFill>
              <a:srgbClr val="1A3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0" y="18836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LEAD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852160" y="206654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Tangyie Shulem Yaweni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52160" y="2359152"/>
            <a:ext cx="3017520" cy="0"/>
          </a:xfrm>
          <a:prstGeom prst="line">
            <a:avLst/>
          </a:prstGeom>
          <a:noFill/>
          <a:ln w="5080">
            <a:solidFill>
              <a:srgbClr val="1A3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0" y="26334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852160" y="28163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Franklin Metchezin (Zenu) — NCOBNKUN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52160" y="3108960"/>
            <a:ext cx="3017520" cy="0"/>
          </a:xfrm>
          <a:prstGeom prst="line">
            <a:avLst/>
          </a:prstGeom>
          <a:noFill/>
          <a:ln w="5080">
            <a:solidFill>
              <a:srgbClr val="1A30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338328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852160" y="35661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First — every task starts with Claude Code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852160" y="3858768"/>
            <a:ext cx="3017520" cy="0"/>
          </a:xfrm>
          <a:prstGeom prst="line">
            <a:avLst/>
          </a:prstGeom>
          <a:noFill/>
          <a:ln w="5080">
            <a:solidFill>
              <a:srgbClr val="1A30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52160" y="413308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NKONI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852160" y="431596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25–26, 2026 — Bronx, New York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ABB2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Timeline — March → June 30, 2026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0"/>
          </a:xfrm>
          <a:prstGeom prst="line">
            <a:avLst/>
          </a:prstGeom>
          <a:noFill/>
          <a:ln w="6350">
            <a:solidFill>
              <a:srgbClr val="C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9264"/>
            <a:ext cx="2011680" cy="365760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692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59152" y="969264"/>
            <a:ext cx="2011680" cy="365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9152" y="9692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9704" y="969264"/>
            <a:ext cx="2011680" cy="365760"/>
          </a:xfrm>
          <a:prstGeom prst="rect">
            <a:avLst/>
          </a:prstGeom>
          <a:solidFill>
            <a:srgbClr val="7D5A00"/>
          </a:solidFill>
          <a:ln w="12700">
            <a:solidFill>
              <a:srgbClr val="7D5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9704" y="9692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20256" y="969264"/>
            <a:ext cx="2011680" cy="3657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0256" y="9692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1408176"/>
            <a:ext cx="868680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8DD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1408176"/>
            <a:ext cx="54864" cy="621792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1444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Homepage + Website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1752" y="1737360"/>
            <a:ext cx="1965960" cy="256032"/>
          </a:xfrm>
          <a:prstGeom prst="rect">
            <a:avLst/>
          </a:prstGeom>
          <a:solidFill>
            <a:srgbClr val="1A7A45"/>
          </a:solidFill>
          <a:ln w="15240">
            <a:solidFill>
              <a:srgbClr val="1A7A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" y="1746504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v1 deploy · Community links · eMuseum preview · Book section · Registration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2432304" y="1737360"/>
            <a:ext cx="1965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1A7A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87168" y="1746504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download section · Bundle activation · NKONI countdown · Word of Day widget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562856" y="1737360"/>
            <a:ext cx="1965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1A7A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1746504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Medumba translation (Franklin) · QA · Amira Test · Cloudflare performance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6693408" y="1737360"/>
            <a:ext cx="1965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1A7A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8272" y="1746504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Pre-NKONI final QA · UAT with Toundzi family · All sections verified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228600" y="2066544"/>
            <a:ext cx="8686800" cy="621792"/>
          </a:xfrm>
          <a:prstGeom prst="rect">
            <a:avLst/>
          </a:prstGeom>
          <a:solidFill>
            <a:srgbClr val="F3F8F4"/>
          </a:solidFill>
          <a:ln w="3810">
            <a:solidFill>
              <a:srgbClr val="C8DD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2066544"/>
            <a:ext cx="54864" cy="621792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Living Dictionary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01752" y="2395728"/>
            <a:ext cx="1965960" cy="256032"/>
          </a:xfrm>
          <a:prstGeom prst="rect">
            <a:avLst/>
          </a:prstGeom>
          <a:solidFill>
            <a:srgbClr val="0E6655"/>
          </a:solidFill>
          <a:ln w="15240">
            <a:solidFill>
              <a:srgbClr val="0E66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" y="2404872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Trilingual search live · Tonal audio · STEM domain · Category filters · word_suggestions table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432304" y="2395728"/>
            <a:ext cx="1965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E66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87168" y="2404872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 pipeline: AI intake agent · NCOBNKUN dashboard (Franklin) · Gamification credits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4562856" y="2395728"/>
            <a:ext cx="1965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E66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2404872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vocabulary seeded (50+ words) · User notification pipeline · Contributor leaderboard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6693408" y="2395728"/>
            <a:ext cx="1965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E66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48272" y="2404872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dictionary module · Modern life domain (50+ words) · THEO integration verified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228600" y="2724912"/>
            <a:ext cx="868680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8DD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" y="2724912"/>
            <a:ext cx="54864" cy="6217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" y="27614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App (Web + Mobile)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01752" y="3054096"/>
            <a:ext cx="1965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1A527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16" y="3063240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Translator live · THEO API auth + emitTheo()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2432304" y="3054096"/>
            <a:ext cx="1965960" cy="256032"/>
          </a:xfrm>
          <a:prstGeom prst="rect">
            <a:avLst/>
          </a:prstGeom>
          <a:solidFill>
            <a:srgbClr val="1A5276"/>
          </a:solidFill>
          <a:ln w="15240">
            <a:solidFill>
              <a:srgbClr val="1A527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87168" y="3063240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modules (5 types) · XP + streaks · Pronunciation AI · Flutter Android scaffold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4562856" y="3054096"/>
            <a:ext cx="1965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1A527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17720" y="3063240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TestFlight · Android APK · Offline sync (TheoEventService + SyncService) · QR CEPOM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6693408" y="3054096"/>
            <a:ext cx="1965960" cy="256032"/>
          </a:xfrm>
          <a:prstGeom prst="rect">
            <a:avLst/>
          </a:prstGeom>
          <a:solidFill>
            <a:srgbClr val="1A5276"/>
          </a:solidFill>
          <a:ln w="15240">
            <a:solidFill>
              <a:srgbClr val="1A527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48272" y="3063240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query live · Full offline mode · UAT Donovan/Sara/Amira · Demo rehearsal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228600" y="3383280"/>
            <a:ext cx="8686800" cy="621792"/>
          </a:xfrm>
          <a:prstGeom prst="rect">
            <a:avLst/>
          </a:prstGeom>
          <a:solidFill>
            <a:srgbClr val="F3F8F4"/>
          </a:solidFill>
          <a:ln w="3810">
            <a:solidFill>
              <a:srgbClr val="C8DDD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28600" y="3383280"/>
            <a:ext cx="54864" cy="6217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9184" y="34198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Live Classes Marketplace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01752" y="3712464"/>
            <a:ext cx="1965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1A527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6616" y="3721608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schema: tutors, class_bookings, assessments, payouts, escalation_queue · Tutor portal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2432304" y="3712464"/>
            <a:ext cx="1965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1A527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487168" y="3721608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flow · TutorMatchingService · Daily.co integration · Stripe split + Wise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4562856" y="3712464"/>
            <a:ext cx="1965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1A527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17720" y="3721608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Post-class AI pipeline (Claude transcript → summary + THEO) · AI customer service chatbot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6693408" y="3712464"/>
            <a:ext cx="1965960" cy="256032"/>
          </a:xfrm>
          <a:prstGeom prst="rect">
            <a:avLst/>
          </a:prstGeom>
          <a:solidFill>
            <a:srgbClr val="1A5276"/>
          </a:solidFill>
          <a:ln w="15240">
            <a:solidFill>
              <a:srgbClr val="1A527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48272" y="3721608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NKONI MVP: 3+ validated tutors · Booking flow live · Demo class confirmed · Donovan books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228600" y="4041648"/>
            <a:ext cx="868680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8DDD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28600" y="4041648"/>
            <a:ext cx="54864" cy="621792"/>
          </a:xfrm>
          <a:prstGeom prst="rect">
            <a:avLst/>
          </a:prstGeom>
          <a:solidFill>
            <a:srgbClr val="7D5A00"/>
          </a:solidFill>
          <a:ln w="12700">
            <a:solidFill>
              <a:srgbClr val="7D5A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9184" y="40782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eMuseum + AI Chatbot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01752" y="4370832"/>
            <a:ext cx="1965960" cy="256032"/>
          </a:xfrm>
          <a:prstGeom prst="rect">
            <a:avLst/>
          </a:prstGeom>
          <a:solidFill>
            <a:srgbClr val="7D5A00"/>
          </a:solidFill>
          <a:ln w="15240">
            <a:solidFill>
              <a:srgbClr val="7D5A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56616" y="4379976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CMS + 14-dim schema · eMuseum React frontend · Homepage preview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2432304" y="4370832"/>
            <a:ext cx="1965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5A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487168" y="4379976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scan-to-draft pipeline · 50+ artifacts live · Chatbot RAG pipeline + ASR endpoint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4562856" y="4370832"/>
            <a:ext cx="1965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5A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17720" y="4379976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FESTAC ingestion workflow · Chatbot voice query end-to-end · F1 baseline eval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6693408" y="4370832"/>
            <a:ext cx="1965960" cy="256032"/>
          </a:xfrm>
          <a:prstGeom prst="rect">
            <a:avLst/>
          </a:prstGeom>
          <a:solidFill>
            <a:srgbClr val="7D5A00"/>
          </a:solidFill>
          <a:ln w="15240">
            <a:solidFill>
              <a:srgbClr val="7D5A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748272" y="4379976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50+ artifacts verified · Voice query demo-ready · THEO events flowing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228600" y="4700016"/>
            <a:ext cx="8686800" cy="2560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" y="470001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NKONI FESTIVAL — BRONX, NEW YORK — JULY 25–26, 2026 — ALL PRODUCTS LIVE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ABB2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1 — NOW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March 2026 (Weeks 2–5) — Build the Foundation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0"/>
          </a:xfrm>
          <a:prstGeom prst="line">
            <a:avLst/>
          </a:prstGeom>
          <a:noFill/>
          <a:ln w="6350">
            <a:solidFill>
              <a:srgbClr val="C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005840"/>
            <a:ext cx="4343400" cy="877824"/>
          </a:xfrm>
          <a:prstGeom prst="rect">
            <a:avLst/>
          </a:prstGeom>
          <a:solidFill>
            <a:srgbClr val="FFFFFF"/>
          </a:solidFill>
          <a:ln w="15240">
            <a:solidFill>
              <a:srgbClr val="1A7A4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005840"/>
            <a:ext cx="365760" cy="201168"/>
          </a:xfrm>
          <a:prstGeom prst="rect">
            <a:avLst/>
          </a:prstGeom>
          <a:solidFill>
            <a:srgbClr val="1A7A45"/>
          </a:solidFill>
          <a:ln w="7620">
            <a:solidFill>
              <a:srgbClr val="1A7A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0058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124358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API: Supabase JWT auth + emitTheo() shared function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51790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depends on this. Build first. No product ships until emitTheo() exists.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1755648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 + Aymar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681728" y="1005840"/>
            <a:ext cx="4343400" cy="877824"/>
          </a:xfrm>
          <a:prstGeom prst="rect">
            <a:avLst/>
          </a:prstGeom>
          <a:solidFill>
            <a:srgbClr val="FFFFFF"/>
          </a:solidFill>
          <a:ln w="15240">
            <a:solidFill>
              <a:srgbClr val="1A7A4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81728" y="1005840"/>
            <a:ext cx="365760" cy="201168"/>
          </a:xfrm>
          <a:prstGeom prst="rect">
            <a:avLst/>
          </a:prstGeom>
          <a:solidFill>
            <a:srgbClr val="1A7A45"/>
          </a:solidFill>
          <a:ln w="7620">
            <a:solidFill>
              <a:srgbClr val="1A7A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10058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0" y="124358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schema: ALL tables for all 7 products + word_suggestions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151790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+ RLS policies in one migration batch. Use Claude Code to generate full schema.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54880" y="1755648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01168" y="1975104"/>
            <a:ext cx="4343400" cy="877824"/>
          </a:xfrm>
          <a:prstGeom prst="rect">
            <a:avLst/>
          </a:prstGeom>
          <a:solidFill>
            <a:srgbClr val="FFFFFF"/>
          </a:solidFill>
          <a:ln w="15240">
            <a:solidFill>
              <a:srgbClr val="1A7A4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1975104"/>
            <a:ext cx="365760" cy="201168"/>
          </a:xfrm>
          <a:prstGeom prst="rect">
            <a:avLst/>
          </a:prstGeom>
          <a:solidFill>
            <a:srgbClr val="1A7A45"/>
          </a:solidFill>
          <a:ln w="7620">
            <a:solidFill>
              <a:srgbClr val="1A7A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19751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" y="22128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v1: hero + 3-component cards + registration + community links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24871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medumba.ai via Vercel. Zenu YouTube embed. CEPOM + NCOBNKUN links. FR/EN.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4320" y="2724912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 (Kaaynos pro bono)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681728" y="1975104"/>
            <a:ext cx="4343400" cy="877824"/>
          </a:xfrm>
          <a:prstGeom prst="rect">
            <a:avLst/>
          </a:prstGeom>
          <a:solidFill>
            <a:srgbClr val="FFFFFF"/>
          </a:solidFill>
          <a:ln w="15240">
            <a:solidFill>
              <a:srgbClr val="1A7A4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1975104"/>
            <a:ext cx="365760" cy="201168"/>
          </a:xfrm>
          <a:prstGeom prst="rect">
            <a:avLst/>
          </a:prstGeom>
          <a:solidFill>
            <a:srgbClr val="1A7A45"/>
          </a:solidFill>
          <a:ln w="7620">
            <a:solidFill>
              <a:srgbClr val="1A7A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19751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54880" y="22128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v2: trilingual search + tonal audio + STEM domain + category filters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24871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MVP. Claude Code generates v1. Franklin seeds STEM vocabulary (Mathematics + CS priority).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4880" y="2724912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 + Franklin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01168" y="2944368"/>
            <a:ext cx="4343400" cy="877824"/>
          </a:xfrm>
          <a:prstGeom prst="rect">
            <a:avLst/>
          </a:prstGeom>
          <a:solidFill>
            <a:srgbClr val="FFFFFF"/>
          </a:solidFill>
          <a:ln w="15240">
            <a:solidFill>
              <a:srgbClr val="1A7A4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" y="2944368"/>
            <a:ext cx="365760" cy="201168"/>
          </a:xfrm>
          <a:prstGeom prst="rect">
            <a:avLst/>
          </a:prstGeom>
          <a:solidFill>
            <a:srgbClr val="1A7A45"/>
          </a:solidFill>
          <a:ln w="7620">
            <a:solidFill>
              <a:srgbClr val="1A7A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" y="29443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4320" y="31821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 pipeline: POST /words/suggest + AI intake agent (agentic Claude)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345643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duplicate check · Claude drafts trilingual entry · routes to NCOBNKUN queue. Franklin gets dashboard.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4320" y="3694176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 + Claude API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681728" y="2944368"/>
            <a:ext cx="43434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0E66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81728" y="2944368"/>
            <a:ext cx="365760" cy="201168"/>
          </a:xfrm>
          <a:prstGeom prst="rect">
            <a:avLst/>
          </a:prstGeom>
          <a:solidFill>
            <a:srgbClr val="F3F8F4"/>
          </a:solidFill>
          <a:ln w="7620">
            <a:solidFill>
              <a:srgbClr val="0E66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1728" y="29443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54880" y="31821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eMuseum: Sanity CMS 14-dim schema + React frontend (/museum route)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4880" y="345643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preview gallery (5 artifacts). Cloudflare CDN configured. Franklin starts curating artifacts.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54880" y="3694176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 + Franklin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01168" y="3913632"/>
            <a:ext cx="43434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1A527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01168" y="3913632"/>
            <a:ext cx="365760" cy="201168"/>
          </a:xfrm>
          <a:prstGeom prst="rect">
            <a:avLst/>
          </a:prstGeom>
          <a:solidFill>
            <a:srgbClr val="F3F8F4"/>
          </a:solidFill>
          <a:ln w="7620">
            <a:solidFill>
              <a:srgbClr val="1A527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1168" y="39136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74320" y="415137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Translator v2: FR→Medumba live on medumba.ai (extends MVP)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74320" y="442569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Modal.com LLM endpoint. User feedback loop → LLM training signal. Rate limiting.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74320" y="4663440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 + Tangyie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681728" y="3913632"/>
            <a:ext cx="43434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1A527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81728" y="3913632"/>
            <a:ext cx="365760" cy="201168"/>
          </a:xfrm>
          <a:prstGeom prst="rect">
            <a:avLst/>
          </a:prstGeom>
          <a:solidFill>
            <a:srgbClr val="F3F8F4"/>
          </a:solidFill>
          <a:ln w="7620">
            <a:solidFill>
              <a:srgbClr val="1A527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81728" y="39136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754880" y="415137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onboarding portal: application form + Franklin validation queue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54880" y="442569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Connect onboarding. Availability calendar. Franklin reviews first 3 tutor applications.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754880" y="4663440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01168" y="4974336"/>
            <a:ext cx="8741664" cy="182880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2608" y="497433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Milestone: theo_events flowing · Homepage live · Dictionary v2 · New word pipeline · eMuseum preview · Tutor portal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ABB2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April 2026 — Build the Products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0"/>
          </a:xfrm>
          <a:prstGeom prst="line">
            <a:avLst/>
          </a:prstGeom>
          <a:noFill/>
          <a:ln w="6350">
            <a:solidFill>
              <a:srgbClr val="C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005840"/>
            <a:ext cx="4343400" cy="877824"/>
          </a:xfrm>
          <a:prstGeom prst="rect">
            <a:avLst/>
          </a:prstGeom>
          <a:solidFill>
            <a:srgbClr val="FFFFFF"/>
          </a:solidFill>
          <a:ln w="15240">
            <a:solidFill>
              <a:srgbClr val="1A527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005840"/>
            <a:ext cx="365760" cy="201168"/>
          </a:xfrm>
          <a:prstGeom prst="rect">
            <a:avLst/>
          </a:prstGeom>
          <a:solidFill>
            <a:srgbClr val="1A5276"/>
          </a:solidFill>
          <a:ln w="762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0058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124358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scaffold: Android primary + iOS secondary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51790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screens by Claude Code. Riverpod + sqflite + GoRouter + Supabase Auth. NOT Firebase Auth.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1755648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681728" y="1005840"/>
            <a:ext cx="4343400" cy="877824"/>
          </a:xfrm>
          <a:prstGeom prst="rect">
            <a:avLst/>
          </a:prstGeom>
          <a:solidFill>
            <a:srgbClr val="FFFFFF"/>
          </a:solidFill>
          <a:ln w="15240">
            <a:solidFill>
              <a:srgbClr val="1A527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81728" y="1005840"/>
            <a:ext cx="365760" cy="201168"/>
          </a:xfrm>
          <a:prstGeom prst="rect">
            <a:avLst/>
          </a:prstGeom>
          <a:solidFill>
            <a:srgbClr val="1A5276"/>
          </a:solidFill>
          <a:ln w="762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10058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0" y="124358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modules: 5 lesson types + XP + streaks + progress_logs + THEO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151790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algorithm. Diaspora vs community tracks. emitTheo(lesson_completed) in every route.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54880" y="1755648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01168" y="1975104"/>
            <a:ext cx="4343400" cy="877824"/>
          </a:xfrm>
          <a:prstGeom prst="rect">
            <a:avLst/>
          </a:prstGeom>
          <a:solidFill>
            <a:srgbClr val="FFFFFF"/>
          </a:solidFill>
          <a:ln w="15240">
            <a:solidFill>
              <a:srgbClr val="1A527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1975104"/>
            <a:ext cx="365760" cy="201168"/>
          </a:xfrm>
          <a:prstGeom prst="rect">
            <a:avLst/>
          </a:prstGeom>
          <a:solidFill>
            <a:srgbClr val="1A5276"/>
          </a:solidFill>
          <a:ln w="7620">
            <a:solidFill>
              <a:srgbClr val="1A52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19751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" y="22128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Pronunciation AI: FastAPI + librosa + Modal.com + Chart.js pitch contour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24871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/assess-pronunciation. Score 0-100. tone_errors[]. teacher_override route. THEO event emitted.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4320" y="2724912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 + Tangyie/GWU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681728" y="1975104"/>
            <a:ext cx="4343400" cy="877824"/>
          </a:xfrm>
          <a:prstGeom prst="rect">
            <a:avLst/>
          </a:prstGeom>
          <a:solidFill>
            <a:srgbClr val="FFFFFF"/>
          </a:solidFill>
          <a:ln w="15240">
            <a:solidFill>
              <a:srgbClr val="1A527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1975104"/>
            <a:ext cx="365760" cy="201168"/>
          </a:xfrm>
          <a:prstGeom prst="rect">
            <a:avLst/>
          </a:prstGeom>
          <a:solidFill>
            <a:srgbClr val="1A5276"/>
          </a:solidFill>
          <a:ln w="7620">
            <a:solidFill>
              <a:srgbClr val="1A52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19751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54880" y="22128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Tutoring: Assessment flow + TutorMatchingService + Stripe + Daily.co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24871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scheduling → free 15-min Daily.co call → AI scoring → top 3 tutor cards → Stripe PaymentIntent.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4880" y="2724912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01168" y="2944368"/>
            <a:ext cx="4343400" cy="877824"/>
          </a:xfrm>
          <a:prstGeom prst="rect">
            <a:avLst/>
          </a:prstGeom>
          <a:solidFill>
            <a:srgbClr val="FFFFFF"/>
          </a:solidFill>
          <a:ln w="15240">
            <a:solidFill>
              <a:srgbClr val="1A527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" y="2944368"/>
            <a:ext cx="365760" cy="201168"/>
          </a:xfrm>
          <a:prstGeom prst="rect">
            <a:avLst/>
          </a:prstGeom>
          <a:solidFill>
            <a:srgbClr val="1A5276"/>
          </a:solidFill>
          <a:ln w="7620">
            <a:solidFill>
              <a:srgbClr val="1A527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" y="29443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4320" y="31821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Post-class pipeline: Daily.co transcript → Claude → summary + THEO event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345643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class_completed = richest THEO signal. 30–45 min real Medumba. Session summary email via SendGrid.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4320" y="3694176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 + Claude API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681728" y="2944368"/>
            <a:ext cx="43434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0E66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81728" y="2944368"/>
            <a:ext cx="365760" cy="201168"/>
          </a:xfrm>
          <a:prstGeom prst="rect">
            <a:avLst/>
          </a:prstGeom>
          <a:solidFill>
            <a:srgbClr val="F3F8F4"/>
          </a:solidFill>
          <a:ln w="7620">
            <a:solidFill>
              <a:srgbClr val="0E66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1728" y="29443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54880" y="31821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vocabulary: 50+ words seeded by Franklin (Maths + CS priority)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4880" y="345643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Franklin creates words using NCOBNKUN dashboard. Each enters via word_approved_and_added THEO event.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54880" y="3694176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Franklin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01168" y="3913632"/>
            <a:ext cx="43434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0E66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01168" y="3913632"/>
            <a:ext cx="365760" cy="201168"/>
          </a:xfrm>
          <a:prstGeom prst="rect">
            <a:avLst/>
          </a:prstGeom>
          <a:solidFill>
            <a:srgbClr val="F3F8F4"/>
          </a:solidFill>
          <a:ln w="7620">
            <a:solidFill>
              <a:srgbClr val="0E66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1168" y="39136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74320" y="415137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eMuseum: QR scan-to-draft + 50+ artifacts live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74320" y="442569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Claude batch-generates descriptions. Franklin approves. Cloudflare CDN verified &lt;2s Cameroon.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74320" y="4663440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 + Franklin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681728" y="3913632"/>
            <a:ext cx="43434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7D5A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81728" y="3913632"/>
            <a:ext cx="365760" cy="201168"/>
          </a:xfrm>
          <a:prstGeom prst="rect">
            <a:avLst/>
          </a:prstGeom>
          <a:solidFill>
            <a:srgbClr val="F3F8F4"/>
          </a:solidFill>
          <a:ln w="7620">
            <a:solidFill>
              <a:srgbClr val="7D5A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81728" y="39136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D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754880" y="415137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Chatbot: RAG pipeline (FAISS + OWL) + ASR voice endpoint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54880" y="442569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Yaweni before running GPU fine-tuning job. FAISS wired to Medumba corpus + Jena Fuseki OWL filter.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754880" y="4663440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 + Tangyie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01168" y="4974336"/>
            <a:ext cx="8741664" cy="1828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2608" y="497433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Milestone: Flutter apps running · Lessons + Pronunciation live · Tutoring booking flow · 50+ artifacts · STEM vocabulary · RAG chatbot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D5A00"/>
          </a:solidFill>
          <a:ln w="12700">
            <a:solidFill>
              <a:srgbClr val="7D5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ABB2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 2026 — Polish + AI Operations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0"/>
          </a:xfrm>
          <a:prstGeom prst="line">
            <a:avLst/>
          </a:prstGeom>
          <a:noFill/>
          <a:ln w="6350">
            <a:solidFill>
              <a:srgbClr val="C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005840"/>
            <a:ext cx="4343400" cy="877824"/>
          </a:xfrm>
          <a:prstGeom prst="rect">
            <a:avLst/>
          </a:prstGeom>
          <a:solidFill>
            <a:srgbClr val="FFFFFF"/>
          </a:solidFill>
          <a:ln w="15240">
            <a:solidFill>
              <a:srgbClr val="1A527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005840"/>
            <a:ext cx="365760" cy="201168"/>
          </a:xfrm>
          <a:prstGeom prst="rect">
            <a:avLst/>
          </a:prstGeom>
          <a:solidFill>
            <a:srgbClr val="1A5276"/>
          </a:solidFill>
          <a:ln w="762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0058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124358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TestFlight build + Android APK sideloadable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51790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Fastlane build config. TestFlight binary. Play Store metadata. APK for Toundzi UAT (Donovan, Sara, Amira).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1755648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681728" y="1005840"/>
            <a:ext cx="4343400" cy="877824"/>
          </a:xfrm>
          <a:prstGeom prst="rect">
            <a:avLst/>
          </a:prstGeom>
          <a:solidFill>
            <a:srgbClr val="FFFFFF"/>
          </a:solidFill>
          <a:ln w="15240">
            <a:solidFill>
              <a:srgbClr val="1A527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81728" y="1005840"/>
            <a:ext cx="365760" cy="201168"/>
          </a:xfrm>
          <a:prstGeom prst="rect">
            <a:avLst/>
          </a:prstGeom>
          <a:solidFill>
            <a:srgbClr val="1A5276"/>
          </a:solidFill>
          <a:ln w="762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10058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0" y="124358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Flutter: TheoEventService + SyncService + sync_queue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151790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offline → SQLite cache · lessons + dict · events queued → batch push on reconnect. Amira Test.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54880" y="1755648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01168" y="1975104"/>
            <a:ext cx="4343400" cy="877824"/>
          </a:xfrm>
          <a:prstGeom prst="rect">
            <a:avLst/>
          </a:prstGeom>
          <a:solidFill>
            <a:srgbClr val="FFFFFF"/>
          </a:solidFill>
          <a:ln w="15240">
            <a:solidFill>
              <a:srgbClr val="6C348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1975104"/>
            <a:ext cx="365760" cy="201168"/>
          </a:xfrm>
          <a:prstGeom prst="rect">
            <a:avLst/>
          </a:prstGeom>
          <a:solidFill>
            <a:srgbClr val="6C3483"/>
          </a:solidFill>
          <a:ln w="7620">
            <a:solidFill>
              <a:srgbClr val="6C34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19751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" y="22128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dashboard + family_links + goal_weights_set → PPO wiring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24871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goal sliders (academic / cultural / community). goal_weights_set event fires PPO update immediately.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4320" y="2724912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 + Aristide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681728" y="1975104"/>
            <a:ext cx="4343400" cy="877824"/>
          </a:xfrm>
          <a:prstGeom prst="rect">
            <a:avLst/>
          </a:prstGeom>
          <a:solidFill>
            <a:srgbClr val="FFFFFF"/>
          </a:solidFill>
          <a:ln w="15240">
            <a:solidFill>
              <a:srgbClr val="1A527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1975104"/>
            <a:ext cx="365760" cy="201168"/>
          </a:xfrm>
          <a:prstGeom prst="rect">
            <a:avLst/>
          </a:prstGeom>
          <a:solidFill>
            <a:srgbClr val="1A5276"/>
          </a:solidFill>
          <a:ln w="7620">
            <a:solidFill>
              <a:srgbClr val="1A52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19751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54880" y="22128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service chatbot for Live Classes (95%+ queries)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24871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+ knowledge base (all booking/payment/class policies). Escalates at confidence &lt; 0.85 to escalation_queue.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4880" y="2724912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 + Claude API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01168" y="2944368"/>
            <a:ext cx="4343400" cy="877824"/>
          </a:xfrm>
          <a:prstGeom prst="rect">
            <a:avLst/>
          </a:prstGeom>
          <a:solidFill>
            <a:srgbClr val="FFFFFF"/>
          </a:solidFill>
          <a:ln w="15240">
            <a:solidFill>
              <a:srgbClr val="7D5A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" y="2944368"/>
            <a:ext cx="365760" cy="201168"/>
          </a:xfrm>
          <a:prstGeom prst="rect">
            <a:avLst/>
          </a:prstGeom>
          <a:solidFill>
            <a:srgbClr val="7D5A00"/>
          </a:solidFill>
          <a:ln w="7620">
            <a:solidFill>
              <a:srgbClr val="7D5A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" y="29443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4320" y="31821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query end-to-end: ASR → LLM → RAG → response · F1 baseline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345643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agentic flow. ClickHouse logs F1. Dataset packaged for Aristide/GWU. Demo rehearsal.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4320" y="3694176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 + Tangyie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681728" y="2944368"/>
            <a:ext cx="43434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0E66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81728" y="2944368"/>
            <a:ext cx="365760" cy="201168"/>
          </a:xfrm>
          <a:prstGeom prst="rect">
            <a:avLst/>
          </a:prstGeom>
          <a:solidFill>
            <a:srgbClr val="F3F8F4"/>
          </a:solidFill>
          <a:ln w="7620">
            <a:solidFill>
              <a:srgbClr val="0E66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1728" y="29443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54880" y="31821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Gamification: credits leaderboard + contributor badges + dictionary attribution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4880" y="345643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leaderboard. Badge icons. 'Suggested by [username]' on every approved dictionary entry.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54880" y="3694176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01168" y="3913632"/>
            <a:ext cx="43434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0E66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01168" y="3913632"/>
            <a:ext cx="365760" cy="201168"/>
          </a:xfrm>
          <a:prstGeom prst="rect">
            <a:avLst/>
          </a:prstGeom>
          <a:solidFill>
            <a:srgbClr val="F3F8F4"/>
          </a:solidFill>
          <a:ln w="7620">
            <a:solidFill>
              <a:srgbClr val="0E66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1168" y="39136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74320" y="415137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life vocabulary: 50+ diaspora daily words (Franklin + Toundzi input)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74320" y="442569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subway · semester · mortgage · graduation · social media · video call. Franklin + diaspora community input.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74320" y="4663440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Franklin + Aristide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681728" y="3913632"/>
            <a:ext cx="43434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0E66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81728" y="3913632"/>
            <a:ext cx="365760" cy="201168"/>
          </a:xfrm>
          <a:prstGeom prst="rect">
            <a:avLst/>
          </a:prstGeom>
          <a:solidFill>
            <a:srgbClr val="F3F8F4"/>
          </a:solidFill>
          <a:ln w="7620">
            <a:solidFill>
              <a:srgbClr val="0E66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81728" y="39136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754880" y="415137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FESTAC recurring pipeline + eMuseum QR codes for Chiefdom Palace install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54880" y="442569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→ eMuseum ingestion. Print-ready QR labels. Physical install at Bangangté Chiefdom Palace.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754880" y="4663440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 + Franklin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01168" y="4974336"/>
            <a:ext cx="8741664" cy="182880"/>
          </a:xfrm>
          <a:prstGeom prst="rect">
            <a:avLst/>
          </a:prstGeom>
          <a:solidFill>
            <a:srgbClr val="7D5A00"/>
          </a:solidFill>
          <a:ln w="12700">
            <a:solidFill>
              <a:srgbClr val="7D5A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2608" y="497433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Milestone: Flutter TestFlight · Offline sync · Parent dashboard · AI chatbot · Voice query + F1 · Leaderboard · Modern vocab · Tutoring AI ops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ABB2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June 2026 — Integration, UAT &amp; NKONI Rehearsal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0"/>
          </a:xfrm>
          <a:prstGeom prst="line">
            <a:avLst/>
          </a:prstGeom>
          <a:noFill/>
          <a:ln w="6350">
            <a:solidFill>
              <a:srgbClr val="C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005840"/>
            <a:ext cx="4343400" cy="877824"/>
          </a:xfrm>
          <a:prstGeom prst="rect">
            <a:avLst/>
          </a:prstGeom>
          <a:solidFill>
            <a:srgbClr val="FFFFFF"/>
          </a:solidFill>
          <a:ln w="15240">
            <a:solidFill>
              <a:srgbClr val="6C348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005840"/>
            <a:ext cx="365760" cy="201168"/>
          </a:xfrm>
          <a:prstGeom prst="rect">
            <a:avLst/>
          </a:prstGeom>
          <a:solidFill>
            <a:srgbClr val="6C3483"/>
          </a:solidFill>
          <a:ln w="7620">
            <a:solidFill>
              <a:srgbClr val="6C348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0058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124358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NKONI demo rehearsal: all 7 products live end-to-end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51790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Claude health check across all products. Claude Code patches any failing endpoints. 99% uptime verified.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1755648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 + Tangyie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681728" y="1005840"/>
            <a:ext cx="4343400" cy="877824"/>
          </a:xfrm>
          <a:prstGeom prst="rect">
            <a:avLst/>
          </a:prstGeom>
          <a:solidFill>
            <a:srgbClr val="FFFFFF"/>
          </a:solidFill>
          <a:ln w="15240">
            <a:solidFill>
              <a:srgbClr val="6C348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81728" y="1005840"/>
            <a:ext cx="365760" cy="201168"/>
          </a:xfrm>
          <a:prstGeom prst="rect">
            <a:avLst/>
          </a:prstGeom>
          <a:solidFill>
            <a:srgbClr val="6C3483"/>
          </a:solidFill>
          <a:ln w="7620">
            <a:solidFill>
              <a:srgbClr val="6C34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10058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0" y="124358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Phase 1–6: Donovan (15) leads. Sara Marie (11). Amira (6) observed.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151790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6-phase UAT: Dictionary → Lessons → Pronunciation → Media → Flutter offline → Full 30-min loop.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54880" y="1755648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Toundzi family + Felix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01168" y="1975104"/>
            <a:ext cx="4343400" cy="877824"/>
          </a:xfrm>
          <a:prstGeom prst="rect">
            <a:avLst/>
          </a:prstGeom>
          <a:solidFill>
            <a:srgbClr val="FFFFFF"/>
          </a:solidFill>
          <a:ln w="15240">
            <a:solidFill>
              <a:srgbClr val="6C348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1975104"/>
            <a:ext cx="365760" cy="201168"/>
          </a:xfrm>
          <a:prstGeom prst="rect">
            <a:avLst/>
          </a:prstGeom>
          <a:solidFill>
            <a:srgbClr val="6C3483"/>
          </a:solidFill>
          <a:ln w="7620">
            <a:solidFill>
              <a:srgbClr val="6C34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19751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" y="22128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Amira Test audit: every PR that touches mobile UI must pass before merge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24871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element: icon+text · one-tap audio · lesson steps ≤90s · animated celebration · 30-day session.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4320" y="2724912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681728" y="1975104"/>
            <a:ext cx="4343400" cy="877824"/>
          </a:xfrm>
          <a:prstGeom prst="rect">
            <a:avLst/>
          </a:prstGeom>
          <a:solidFill>
            <a:srgbClr val="FFFFFF"/>
          </a:solidFill>
          <a:ln w="15240">
            <a:solidFill>
              <a:srgbClr val="0E66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1975104"/>
            <a:ext cx="365760" cy="201168"/>
          </a:xfrm>
          <a:prstGeom prst="rect">
            <a:avLst/>
          </a:prstGeom>
          <a:solidFill>
            <a:srgbClr val="0E6655"/>
          </a:solidFill>
          <a:ln w="7620">
            <a:solidFill>
              <a:srgbClr val="0E66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19751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54880" y="22128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 pipeline: 1 full cycle completed (end-to-end demo ready)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24871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 → AI draft → Franklin NCOBNKUN review → CEPOM approval → user notified + credited. Demo-ready.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4880" y="2724912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 + Franklin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01168" y="2944368"/>
            <a:ext cx="4343400" cy="877824"/>
          </a:xfrm>
          <a:prstGeom prst="rect">
            <a:avLst/>
          </a:prstGeom>
          <a:solidFill>
            <a:srgbClr val="FFFFFF"/>
          </a:solidFill>
          <a:ln w="15240">
            <a:solidFill>
              <a:srgbClr val="1A527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" y="2944368"/>
            <a:ext cx="365760" cy="201168"/>
          </a:xfrm>
          <a:prstGeom prst="rect">
            <a:avLst/>
          </a:prstGeom>
          <a:solidFill>
            <a:srgbClr val="1A5276"/>
          </a:solidFill>
          <a:ln w="7620">
            <a:solidFill>
              <a:srgbClr val="1A527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" y="29443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4320" y="31821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Classes: 3+ Franklin-validated tutors confirmed · Booking flow live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345643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Franklin completes linguistic validation of 3+ tutors. Assessment scheduling tested. Stripe live in test mode.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4320" y="3694176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 + Franklin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681728" y="2944368"/>
            <a:ext cx="4343400" cy="877824"/>
          </a:xfrm>
          <a:prstGeom prst="rect">
            <a:avLst/>
          </a:prstGeom>
          <a:solidFill>
            <a:srgbClr val="FFFFFF"/>
          </a:solidFill>
          <a:ln w="15240">
            <a:solidFill>
              <a:srgbClr val="1A7A4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81728" y="2944368"/>
            <a:ext cx="365760" cy="201168"/>
          </a:xfrm>
          <a:prstGeom prst="rect">
            <a:avLst/>
          </a:prstGeom>
          <a:solidFill>
            <a:srgbClr val="1A7A45"/>
          </a:solidFill>
          <a:ln w="7620">
            <a:solidFill>
              <a:srgbClr val="1A7A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1728" y="29443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54880" y="31821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API: 99% uptime · OpenAPI spec published · all products verified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4880" y="345643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products + homepage emit to theo_events. Twin initialization confirmed for Donovan, Sara Marie, Amira.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54880" y="3694176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 + Tangyie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01168" y="3913632"/>
            <a:ext cx="43434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1A7A4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01168" y="3913632"/>
            <a:ext cx="365760" cy="201168"/>
          </a:xfrm>
          <a:prstGeom prst="rect">
            <a:avLst/>
          </a:prstGeom>
          <a:solidFill>
            <a:srgbClr val="F3F8F4"/>
          </a:solidFill>
          <a:ln w="7620">
            <a:solidFill>
              <a:srgbClr val="1A7A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1168" y="39136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74320" y="415137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medumba.ai Medumba-language homepage: Franklin validates all Medumba copy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74320" y="442569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Trilingual toggle FR/EN/Medumba. Franklin reviews and approves Medumba text. Milestone: homepage in Medumba.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74320" y="4663440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 + Franklin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681728" y="3913632"/>
            <a:ext cx="43434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6C348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81728" y="3913632"/>
            <a:ext cx="365760" cy="201168"/>
          </a:xfrm>
          <a:prstGeom prst="rect">
            <a:avLst/>
          </a:prstGeom>
          <a:solidFill>
            <a:srgbClr val="F3F8F4"/>
          </a:solidFill>
          <a:ln w="7620">
            <a:solidFill>
              <a:srgbClr val="6C348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81728" y="39136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754880" y="415137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Books: /books page live · Amazon affiliate links · bundle activation tested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54880" y="442569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Franklin provides book ASINs + Amazon affiliate tag. Bundle activation endpoint tested with real purchase.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754880" y="4663440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Felix + Franklin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01168" y="4974336"/>
            <a:ext cx="8741664" cy="1828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2608" y="497433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30 Milestone: All 7 products demo-ready · UAT complete · 3+ tutors validated · New word cycle proven · 99% API uptime · NKONI rehearsed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ABB2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DONE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NKONI Festival — July 25–26, 2026 — Done When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0"/>
          </a:xfrm>
          <a:prstGeom prst="line">
            <a:avLst/>
          </a:prstGeom>
          <a:noFill/>
          <a:ln w="6350">
            <a:solidFill>
              <a:srgbClr val="C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005840"/>
            <a:ext cx="4169664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1A7A4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005840"/>
            <a:ext cx="4169664" cy="36576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1097280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Homepage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" y="1389888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medumba.ai live, all sections, trilingual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10896" y="1600200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Zenu YouTube embedded (@zenumen7363)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10896" y="1810512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CEPOM + NCOBNKUN links active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10896" y="2020824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section + Amazon links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462272" y="1005840"/>
            <a:ext cx="4169664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0E66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62272" y="1005840"/>
            <a:ext cx="4169664" cy="36576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097280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Dictionary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1389888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Trilingual search live (FR/Medumba/EN)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1600200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Tonal audio one-tap for all entries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0" y="1810512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domain: 50+ validated words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0" y="2020824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full new word pipeline cycle demonstrated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01168" y="2304288"/>
            <a:ext cx="4169664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1A527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1168" y="2304288"/>
            <a:ext cx="4169664" cy="3657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2395728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The App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0896" y="2688336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Web: Dictionary + Translator + Lessons + Pronunciation + Voice Query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10896" y="2898648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iOS: TestFlight on Donovan, Sara, Amira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10896" y="3108960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Android: APK sideloadable at NKONI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10896" y="3319272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 verified (airplane mode test)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462272" y="2304288"/>
            <a:ext cx="4169664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1A527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62272" y="2304288"/>
            <a:ext cx="4169664" cy="3657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2395728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Live Classes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2688336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flow live (Stripe in test/live mode)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0" y="2898648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Franklin-validated tutors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0" y="3108960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demo class on stage — Donovan books live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0" y="3319272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post-class summary demonstrated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01168" y="3602736"/>
            <a:ext cx="4169664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D5A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01168" y="3602736"/>
            <a:ext cx="4169664" cy="36576"/>
          </a:xfrm>
          <a:prstGeom prst="rect">
            <a:avLst/>
          </a:prstGeom>
          <a:solidFill>
            <a:srgbClr val="7D5A00"/>
          </a:solidFill>
          <a:ln w="12700">
            <a:solidFill>
              <a:srgbClr val="7D5A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" y="3694176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eMuseum + Chatbot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10896" y="3986784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artifacts live on eMuseum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10896" y="4197096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query in Medumba demonstrated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10896" y="4407408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baseline logged + dataset packaged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10896" y="4617720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FESTAC pipeline ready for future events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462272" y="3602736"/>
            <a:ext cx="4169664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1A7A4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462272" y="3602736"/>
            <a:ext cx="4169664" cy="36576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3694176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THEO + Data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0" y="3986784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products writing to theo_events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572000" y="4197096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twin active for Donovan + Sara + Amira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572000" y="4407408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CEPOM pipeline: ≥3 records/week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572000" y="4617720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spec published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01168" y="4992624"/>
            <a:ext cx="8741664" cy="1645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1168" y="4992624"/>
            <a:ext cx="8741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NKONI FESTIVAL · BRONX, NEW YORK · JULY 25–26, 2026  ★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77840" y="0"/>
            <a:ext cx="3566160" cy="5143500"/>
          </a:xfrm>
          <a:prstGeom prst="rect">
            <a:avLst/>
          </a:prstGeom>
          <a:solidFill>
            <a:srgbClr val="0D2010"/>
          </a:solidFill>
          <a:ln w="12700">
            <a:solidFill>
              <a:srgbClr val="0D2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38404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NKONI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84048" y="131673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July 25–26, 2026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84048" y="17007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BB2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Bronx, New York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" y="2066544"/>
            <a:ext cx="5029200" cy="0"/>
          </a:xfrm>
          <a:prstGeom prst="line">
            <a:avLst/>
          </a:prstGeom>
          <a:noFill/>
          <a:ln w="12700">
            <a:solidFill>
              <a:srgbClr val="1A7A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215798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products + homepage live at medumba.ai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25603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query in Medumba demonstrated on stage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296265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Donovan books the first live class — on stage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33649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Amira explores the dictionary — on stage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376732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eMuseum artifacts · CEPOM pipeline running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416966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 pipeline cycle completed + demoed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45720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twins active for NKONI attendees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0" y="329184"/>
            <a:ext cx="3163824" cy="786384"/>
          </a:xfrm>
          <a:prstGeom prst="rect">
            <a:avLst/>
          </a:prstGeom>
          <a:solidFill>
            <a:srgbClr val="0D2010"/>
          </a:solidFill>
          <a:ln w="8890">
            <a:solidFill>
              <a:srgbClr val="1A7A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0" y="329184"/>
            <a:ext cx="54864" cy="786384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88736" y="38404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888736" y="58521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Félix II Njandja Noumi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0" y="1225296"/>
            <a:ext cx="3163824" cy="786384"/>
          </a:xfrm>
          <a:prstGeom prst="rect">
            <a:avLst/>
          </a:prstGeom>
          <a:solidFill>
            <a:srgbClr val="0D2010"/>
          </a:solidFill>
          <a:ln w="8890">
            <a:solidFill>
              <a:srgbClr val="1A527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1225296"/>
            <a:ext cx="54864" cy="7863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88736" y="128016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Lead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888736" y="14813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Tangyie Shulem Yaweni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60720" y="2121408"/>
            <a:ext cx="3163824" cy="786384"/>
          </a:xfrm>
          <a:prstGeom prst="rect">
            <a:avLst/>
          </a:prstGeom>
          <a:solidFill>
            <a:srgbClr val="0D2010"/>
          </a:solidFill>
          <a:ln w="8890">
            <a:solidFill>
              <a:srgbClr val="0E66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60720" y="2121408"/>
            <a:ext cx="54864" cy="786384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88736" y="21762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0E66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Language/Culture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888736" y="23774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Franklin Metchezin (Zenu)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60720" y="3017520"/>
            <a:ext cx="3163824" cy="786384"/>
          </a:xfrm>
          <a:prstGeom prst="rect">
            <a:avLst/>
          </a:prstGeom>
          <a:solidFill>
            <a:srgbClr val="0D2010"/>
          </a:solidFill>
          <a:ln w="8890">
            <a:solidFill>
              <a:srgbClr val="C47D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60720" y="3017520"/>
            <a:ext cx="54864" cy="786384"/>
          </a:xfrm>
          <a:prstGeom prst="rect">
            <a:avLst/>
          </a:prstGeom>
          <a:solidFill>
            <a:srgbClr val="C47D00"/>
          </a:solidFill>
          <a:ln w="12700">
            <a:solidFill>
              <a:srgbClr val="C47D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88736" y="307238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47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 + Strategy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888736" y="327355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Aristide Toundzi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760720" y="3913632"/>
            <a:ext cx="3163824" cy="786384"/>
          </a:xfrm>
          <a:prstGeom prst="rect">
            <a:avLst/>
          </a:prstGeom>
          <a:solidFill>
            <a:srgbClr val="0D2010"/>
          </a:solidFill>
          <a:ln w="8890">
            <a:solidFill>
              <a:srgbClr val="6C348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60720" y="3913632"/>
            <a:ext cx="54864" cy="78638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88736" y="396849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Youth Ambassadors + UAT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888736" y="416966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Donovan · Sara Marie · Amira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760720" y="4846320"/>
            <a:ext cx="3163824" cy="256032"/>
          </a:xfrm>
          <a:prstGeom prst="rect">
            <a:avLst/>
          </a:prstGeom>
          <a:solidFill>
            <a:srgbClr val="0F5730"/>
          </a:solidFill>
          <a:ln w="7620">
            <a:solidFill>
              <a:srgbClr val="1A7A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0" y="484632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medumba.ai · kaaynos.com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Medumba.ai — Implementation Roadmap</dc:title>
  <dc:subject>PptxGenJS Presentation</dc:subject>
  <dc:creator>PptxGenJS</dc:creator>
  <cp:lastModifiedBy>PptxGenJS</cp:lastModifiedBy>
  <cp:revision>1</cp:revision>
  <dcterms:created xsi:type="dcterms:W3CDTF">2026-03-25T18:53:06Z</dcterms:created>
  <dcterms:modified xsi:type="dcterms:W3CDTF">2026-03-25T18:53:06Z</dcterms:modified>
</cp:coreProperties>
</file>